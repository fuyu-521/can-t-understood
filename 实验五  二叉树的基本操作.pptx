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78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2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476672"/>
            <a:ext cx="7772400" cy="818206"/>
          </a:xfrm>
        </p:spPr>
        <p:txBody>
          <a:bodyPr/>
          <a:lstStyle/>
          <a:p>
            <a:r>
              <a:rPr lang="zh-CN" altLang="en-US" dirty="0" smtClean="0"/>
              <a:t>数据结构与算法实验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3568" y="1628800"/>
            <a:ext cx="7704856" cy="4968552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实验五  二叉树的基本</a:t>
            </a:r>
            <a:r>
              <a:rPr lang="zh-CN" altLang="en-US" dirty="0" smtClean="0">
                <a:solidFill>
                  <a:srgbClr val="FF0000"/>
                </a:solidFill>
              </a:rPr>
              <a:t>操作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（两个题目任选其一完成）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l">
              <a:spcBef>
                <a:spcPts val="1800"/>
              </a:spcBef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提示：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spcBef>
                <a:spcPts val="6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请参考教材第六章二叉树的相关算法。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语言定义二叉树的二叉链表结点结构：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typedef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struct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Node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 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DataType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data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			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结点信息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struct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Node *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LChild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		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左孩子域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 </a:t>
            </a:r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struct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Node 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RChild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		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右孩子域</a:t>
            </a:r>
            <a:endParaRPr lang="en-US" altLang="zh-CN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}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476672"/>
            <a:ext cx="8496944" cy="5400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latin typeface="+mn-ea"/>
              </a:rPr>
              <a:t>题目一</a:t>
            </a:r>
            <a:r>
              <a:rPr lang="zh-CN" altLang="en-US" sz="2800" dirty="0" smtClean="0">
                <a:latin typeface="+mn-ea"/>
              </a:rPr>
              <a:t>：建立一棵用二叉链表方式存储的二叉树，并对其进行遍历</a:t>
            </a:r>
            <a:r>
              <a:rPr lang="en-US" altLang="zh-CN" sz="2800" dirty="0" smtClean="0">
                <a:latin typeface="+mn-ea"/>
              </a:rPr>
              <a:t>(</a:t>
            </a:r>
            <a:r>
              <a:rPr lang="zh-CN" altLang="en-US" sz="2800" dirty="0" smtClean="0">
                <a:latin typeface="+mn-ea"/>
              </a:rPr>
              <a:t>先序、中序和后序</a:t>
            </a:r>
            <a:r>
              <a:rPr lang="en-US" altLang="zh-CN" sz="2800" dirty="0" smtClean="0">
                <a:latin typeface="+mn-ea"/>
              </a:rPr>
              <a:t>)</a:t>
            </a:r>
            <a:r>
              <a:rPr lang="zh-CN" altLang="en-US" sz="2800" dirty="0" smtClean="0">
                <a:latin typeface="+mn-ea"/>
              </a:rPr>
              <a:t>，打印输出遍历的结果。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（教材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</a:rPr>
              <a:t>P208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实习题第</a:t>
            </a:r>
            <a:r>
              <a:rPr lang="en-US" altLang="zh-CN" sz="2800" dirty="0" smtClean="0">
                <a:solidFill>
                  <a:srgbClr val="FF0000"/>
                </a:solidFill>
                <a:latin typeface="+mn-ea"/>
              </a:rPr>
              <a:t>1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题）</a:t>
            </a:r>
            <a:endParaRPr lang="en-US" altLang="zh-CN" sz="2800" dirty="0" smtClean="0">
              <a:solidFill>
                <a:srgbClr val="FF0000"/>
              </a:solidFill>
              <a:latin typeface="+mn-ea"/>
            </a:endParaRPr>
          </a:p>
          <a:p>
            <a:pPr marL="0" indent="0">
              <a:buNone/>
            </a:pPr>
            <a:r>
              <a:rPr lang="en-US" altLang="zh-CN" sz="2800" b="1" dirty="0" smtClean="0">
                <a:latin typeface="+mn-ea"/>
              </a:rPr>
              <a:t>[</a:t>
            </a:r>
            <a:r>
              <a:rPr lang="zh-CN" altLang="en-US" sz="2800" b="1" dirty="0" smtClean="0">
                <a:latin typeface="+mn-ea"/>
              </a:rPr>
              <a:t>基本要</a:t>
            </a:r>
            <a:r>
              <a:rPr lang="zh-CN" altLang="en-US" sz="2800" b="1" dirty="0">
                <a:latin typeface="+mn-ea"/>
              </a:rPr>
              <a:t>求</a:t>
            </a:r>
            <a:r>
              <a:rPr lang="en-US" altLang="zh-CN" sz="2800" b="1" dirty="0" smtClean="0">
                <a:latin typeface="+mn-ea"/>
              </a:rPr>
              <a:t>]  </a:t>
            </a:r>
            <a:r>
              <a:rPr lang="zh-CN" altLang="en-US" sz="2800" dirty="0" smtClean="0">
                <a:latin typeface="+mn-ea"/>
              </a:rPr>
              <a:t>从键盘接受扩展先序序列，以二叉链表作为存储结构，建立二叉树</a:t>
            </a:r>
            <a:r>
              <a:rPr lang="en-US" altLang="zh-CN" sz="2800" dirty="0" smtClean="0">
                <a:latin typeface="+mn-ea"/>
              </a:rPr>
              <a:t>(</a:t>
            </a:r>
            <a:r>
              <a:rPr lang="zh-CN" altLang="en-US" sz="2800" dirty="0" smtClean="0">
                <a:latin typeface="+mn-ea"/>
              </a:rPr>
              <a:t>以先序来建立</a:t>
            </a:r>
            <a:r>
              <a:rPr lang="en-US" altLang="zh-CN" sz="2800" dirty="0" smtClean="0">
                <a:latin typeface="+mn-ea"/>
              </a:rPr>
              <a:t>)</a:t>
            </a:r>
            <a:r>
              <a:rPr lang="zh-CN" altLang="en-US" sz="2800" dirty="0" smtClean="0">
                <a:latin typeface="+mn-ea"/>
              </a:rPr>
              <a:t>并对其进行遍历</a:t>
            </a:r>
            <a:r>
              <a:rPr lang="en-US" altLang="zh-CN" sz="2800" dirty="0" smtClean="0">
                <a:latin typeface="+mn-ea"/>
              </a:rPr>
              <a:t>(</a:t>
            </a:r>
            <a:r>
              <a:rPr lang="zh-CN" altLang="en-US" sz="2800" dirty="0" smtClean="0">
                <a:latin typeface="+mn-ea"/>
              </a:rPr>
              <a:t>先序、中序、后序</a:t>
            </a:r>
            <a:r>
              <a:rPr lang="en-US" altLang="zh-CN" sz="2800" dirty="0" smtClean="0">
                <a:latin typeface="+mn-ea"/>
              </a:rPr>
              <a:t>)</a:t>
            </a:r>
            <a:r>
              <a:rPr lang="zh-CN" altLang="en-US" sz="2800" dirty="0" smtClean="0">
                <a:latin typeface="+mn-ea"/>
              </a:rPr>
              <a:t>，然后将遍历结果打印出来</a:t>
            </a:r>
            <a:r>
              <a:rPr lang="zh-CN" altLang="en-US" sz="2800" dirty="0" smtClean="0">
                <a:latin typeface="+mn-ea"/>
              </a:rPr>
              <a:t>。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要求采用递归和非递归两种方法实现。</a:t>
            </a:r>
            <a:endParaRPr lang="en-US" altLang="zh-CN" sz="2800" dirty="0" smtClean="0">
              <a:solidFill>
                <a:srgbClr val="FF0000"/>
              </a:solidFill>
              <a:latin typeface="+mn-ea"/>
            </a:endParaRPr>
          </a:p>
          <a:p>
            <a:pPr marL="0" indent="0">
              <a:buNone/>
            </a:pPr>
            <a:r>
              <a:rPr lang="en-US" altLang="zh-CN" sz="2800" b="1" dirty="0" smtClean="0">
                <a:latin typeface="+mn-ea"/>
              </a:rPr>
              <a:t>[</a:t>
            </a:r>
            <a:r>
              <a:rPr lang="zh-CN" altLang="en-US" sz="2800" b="1" dirty="0" smtClean="0">
                <a:latin typeface="+mn-ea"/>
              </a:rPr>
              <a:t>测试数据</a:t>
            </a:r>
            <a:r>
              <a:rPr lang="en-US" altLang="zh-CN" sz="2800" b="1" dirty="0" smtClean="0">
                <a:latin typeface="+mn-ea"/>
              </a:rPr>
              <a:t>]</a:t>
            </a:r>
            <a:r>
              <a:rPr lang="en-US" altLang="zh-CN" sz="2800" dirty="0" smtClean="0">
                <a:latin typeface="+mn-ea"/>
              </a:rPr>
              <a:t>  ABC..DE.G..F...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+mn-ea"/>
              </a:rPr>
              <a:t>            </a:t>
            </a:r>
            <a:r>
              <a:rPr lang="zh-CN" altLang="en-US" sz="2800" dirty="0" smtClean="0">
                <a:latin typeface="+mn-ea"/>
              </a:rPr>
              <a:t>输出结果：先序序列为</a:t>
            </a:r>
            <a:r>
              <a:rPr lang="en-US" altLang="zh-CN" sz="2800" b="1" dirty="0" smtClean="0">
                <a:solidFill>
                  <a:srgbClr val="FF0000"/>
                </a:solidFill>
                <a:latin typeface="+mn-ea"/>
              </a:rPr>
              <a:t>ABCDEGF</a:t>
            </a:r>
            <a:endParaRPr lang="en-US" altLang="zh-CN" sz="2800" b="1" dirty="0" smtClean="0">
              <a:solidFill>
                <a:srgbClr val="FF0000"/>
              </a:solidFill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>
                <a:latin typeface="+mn-ea"/>
              </a:rPr>
              <a:t> </a:t>
            </a:r>
            <a:r>
              <a:rPr lang="en-US" altLang="zh-CN" sz="2800" dirty="0" smtClean="0">
                <a:latin typeface="+mn-ea"/>
              </a:rPr>
              <a:t>                     </a:t>
            </a:r>
            <a:r>
              <a:rPr lang="zh-CN" altLang="en-US" sz="2800" dirty="0" smtClean="0">
                <a:latin typeface="+mn-ea"/>
              </a:rPr>
              <a:t>中序</a:t>
            </a:r>
            <a:r>
              <a:rPr lang="zh-CN" altLang="en-US" sz="2800" dirty="0">
                <a:latin typeface="+mn-ea"/>
              </a:rPr>
              <a:t>序列</a:t>
            </a:r>
            <a:r>
              <a:rPr lang="zh-CN" altLang="en-US" sz="2800" dirty="0" smtClean="0">
                <a:latin typeface="+mn-ea"/>
              </a:rPr>
              <a:t>为</a:t>
            </a:r>
            <a:r>
              <a:rPr lang="en-US" altLang="zh-CN" sz="2800" b="1" dirty="0" smtClean="0">
                <a:solidFill>
                  <a:srgbClr val="FF0000"/>
                </a:solidFill>
                <a:latin typeface="+mn-ea"/>
              </a:rPr>
              <a:t>CBEGDFA</a:t>
            </a:r>
            <a:endParaRPr lang="en-US" altLang="zh-CN" sz="2800" b="1" dirty="0" smtClean="0">
              <a:solidFill>
                <a:srgbClr val="FF0000"/>
              </a:solidFill>
              <a:latin typeface="+mn-ea"/>
            </a:endParaRPr>
          </a:p>
          <a:p>
            <a:pPr marL="0" indent="0">
              <a:buNone/>
            </a:pPr>
            <a:r>
              <a:rPr lang="en-US" altLang="zh-CN" sz="2800" dirty="0">
                <a:latin typeface="+mn-ea"/>
              </a:rPr>
              <a:t> </a:t>
            </a:r>
            <a:r>
              <a:rPr lang="en-US" altLang="zh-CN" sz="2800" dirty="0" smtClean="0">
                <a:latin typeface="+mn-ea"/>
              </a:rPr>
              <a:t>                     </a:t>
            </a:r>
            <a:r>
              <a:rPr lang="zh-CN" altLang="en-US" sz="2800" dirty="0" smtClean="0">
                <a:latin typeface="+mn-ea"/>
              </a:rPr>
              <a:t>后序序列为</a:t>
            </a:r>
            <a:r>
              <a:rPr lang="en-US" altLang="zh-CN" sz="2800" b="1" dirty="0" smtClean="0">
                <a:solidFill>
                  <a:srgbClr val="FF0000"/>
                </a:solidFill>
                <a:latin typeface="+mn-ea"/>
              </a:rPr>
              <a:t>CGEFDBA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23528" y="476672"/>
            <a:ext cx="8496944" cy="5400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latin typeface="+mn-ea"/>
              </a:rPr>
              <a:t>题目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二</a:t>
            </a:r>
            <a:r>
              <a:rPr lang="zh-CN" altLang="en-US" sz="2800" dirty="0" smtClean="0">
                <a:latin typeface="+mn-ea"/>
              </a:rPr>
              <a:t>：已知二叉树按照二叉链表方式存储，编写算法，要求实现二叉树的竖向显示。竖向显示就是二叉树的按层显示，如图所示。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（新增加题目，教材上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没有）</a:t>
            </a:r>
            <a:endParaRPr lang="en-US" altLang="zh-CN" sz="2800" dirty="0" smtClean="0">
              <a:solidFill>
                <a:srgbClr val="FF0000"/>
              </a:solidFill>
              <a:latin typeface="+mn-ea"/>
            </a:endParaRPr>
          </a:p>
          <a:p>
            <a:pPr marL="0" indent="0">
              <a:buNone/>
            </a:pPr>
            <a:r>
              <a:rPr lang="en-US" altLang="zh-CN" sz="2800" b="1" dirty="0" smtClean="0">
                <a:latin typeface="+mn-ea"/>
              </a:rPr>
              <a:t>[</a:t>
            </a:r>
            <a:r>
              <a:rPr lang="zh-CN" altLang="en-US" sz="2800" b="1" dirty="0" smtClean="0">
                <a:latin typeface="+mn-ea"/>
              </a:rPr>
              <a:t>测试数据</a:t>
            </a:r>
            <a:r>
              <a:rPr lang="en-US" altLang="zh-CN" sz="2800" b="1" dirty="0" smtClean="0">
                <a:latin typeface="+mn-ea"/>
              </a:rPr>
              <a:t>]</a:t>
            </a:r>
            <a:r>
              <a:rPr lang="en-US" altLang="zh-CN" sz="2800" dirty="0" smtClean="0">
                <a:latin typeface="+mn-ea"/>
              </a:rPr>
              <a:t> </a:t>
            </a:r>
            <a:r>
              <a:rPr lang="zh-CN" altLang="en-US" sz="2800" dirty="0" smtClean="0">
                <a:latin typeface="+mn-ea"/>
              </a:rPr>
              <a:t>输入扩展先序序列</a:t>
            </a:r>
            <a:r>
              <a:rPr lang="en-US" altLang="zh-CN" sz="2800" dirty="0" smtClean="0">
                <a:latin typeface="+mn-ea"/>
              </a:rPr>
              <a:t>AB.D..CE.F...</a:t>
            </a:r>
            <a:r>
              <a:rPr lang="zh-CN" altLang="en-US" sz="2800" dirty="0" smtClean="0">
                <a:latin typeface="+mn-ea"/>
              </a:rPr>
              <a:t>创建二叉树。</a:t>
            </a:r>
            <a:endParaRPr lang="en-US" altLang="zh-CN" sz="2800" dirty="0" smtClean="0">
              <a:latin typeface="+mn-ea"/>
            </a:endParaRPr>
          </a:p>
          <a:p>
            <a:pPr marL="0" indent="0">
              <a:buNone/>
            </a:pPr>
            <a:endParaRPr lang="zh-CN" altLang="en-US" sz="2800" dirty="0">
              <a:latin typeface="+mn-ea"/>
            </a:endParaRPr>
          </a:p>
        </p:txBody>
      </p:sp>
      <p:graphicFrame>
        <p:nvGraphicFramePr>
          <p:cNvPr id="2" name="对象 1"/>
          <p:cNvGraphicFramePr/>
          <p:nvPr>
            <p:custDataLst>
              <p:tags r:id="rId1"/>
            </p:custDataLst>
          </p:nvPr>
        </p:nvGraphicFramePr>
        <p:xfrm>
          <a:off x="1835150" y="3068955"/>
          <a:ext cx="6056630" cy="3425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6051550" imgH="3422650" progId="Paint.Picture">
                  <p:embed/>
                </p:oleObj>
              </mc:Choice>
              <mc:Fallback>
                <p:oleObj name="" r:id="rId2" imgW="6051550" imgH="342265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35150" y="3068955"/>
                        <a:ext cx="6056630" cy="3425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5394,&quot;width&quot;:9538}"/>
</p:tagLst>
</file>

<file path=ppt/tags/tag2.xml><?xml version="1.0" encoding="utf-8"?>
<p:tagLst xmlns:p="http://schemas.openxmlformats.org/presentationml/2006/main">
  <p:tag name="COMMONDATA" val="eyJoZGlkIjoiOWU0ZjNiYTgwYjM1NmFlMjU0MGViM2JjNjBkMmU3MjkifQ==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0</TotalTime>
  <Words>581</Words>
  <Application>WPS 演示</Application>
  <PresentationFormat>全屏显示(4:3)</PresentationFormat>
  <Paragraphs>25</Paragraphs>
  <Slides>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Wingdings 2</vt:lpstr>
      <vt:lpstr>Arial</vt:lpstr>
      <vt:lpstr>Times New Roman</vt:lpstr>
      <vt:lpstr>Franklin Gothic Book</vt:lpstr>
      <vt:lpstr>微软雅黑</vt:lpstr>
      <vt:lpstr>Franklin Gothic Medium</vt:lpstr>
      <vt:lpstr>黑体</vt:lpstr>
      <vt:lpstr>Arial Unicode MS</vt:lpstr>
      <vt:lpstr>Calibri</vt:lpstr>
      <vt:lpstr>暗香扑面</vt:lpstr>
      <vt:lpstr>Paint.Picture</vt:lpstr>
      <vt:lpstr>数据结构与算法实验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YYH</dc:creator>
  <cp:lastModifiedBy>杨彦华</cp:lastModifiedBy>
  <cp:revision>10</cp:revision>
  <dcterms:created xsi:type="dcterms:W3CDTF">2018-05-26T06:25:00Z</dcterms:created>
  <dcterms:modified xsi:type="dcterms:W3CDTF">2022-05-06T02:46:26Z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2052-11.1.0.11636</vt:lpwstr>
  </property>
  <property fmtid="{D5CDD505-2E9C-101B-9397-08002B2CF9AE}" pid="3" name="ICV">
    <vt:lpwstr>AA186360D89D48B18F613053AF921E7C</vt:lpwstr>
  </property>
</Properties>
</file>